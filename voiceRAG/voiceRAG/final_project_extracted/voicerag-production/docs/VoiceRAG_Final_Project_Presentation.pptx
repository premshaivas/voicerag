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1e4b13bfad46fd" /><Relationship Type="http://schemas.openxmlformats.org/officeDocument/2006/relationships/extended-properties" Target="/docProps/app.xml" Id="R252924df0fa9486e" /><Relationship Type="http://schemas.openxmlformats.org/officeDocument/2006/relationships/officeDocument" Target="/ppt/presentation.xml" Id="Rd6aec8fa193949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9cdea31db94683"/>
  </p:sldMasterIdLst>
  <p:notesMasterIdLst>
    <p:notesMasterId xmlns:r="http://schemas.openxmlformats.org/officeDocument/2006/relationships" r:id="R48316f2e443f4c4e"/>
  </p:notesMasterIdLst>
  <p:sldIdLst>
    <p:sldId xmlns:r="http://schemas.openxmlformats.org/officeDocument/2006/relationships" id="256" r:id="R4db712bdcda84556"/>
    <p:sldId xmlns:r="http://schemas.openxmlformats.org/officeDocument/2006/relationships" id="257" r:id="Rff49f6ac27f34392"/>
    <p:sldId xmlns:r="http://schemas.openxmlformats.org/officeDocument/2006/relationships" id="258" r:id="R485b4101c2f94972"/>
    <p:sldId xmlns:r="http://schemas.openxmlformats.org/officeDocument/2006/relationships" id="259" r:id="R9d62a77521eb4679"/>
    <p:sldId xmlns:r="http://schemas.openxmlformats.org/officeDocument/2006/relationships" id="260" r:id="Rdcf4aa3afb564faa"/>
    <p:sldId xmlns:r="http://schemas.openxmlformats.org/officeDocument/2006/relationships" id="261" r:id="R838b900ef1e74202"/>
    <p:sldId xmlns:r="http://schemas.openxmlformats.org/officeDocument/2006/relationships" id="262" r:id="Rb22a7396bab4439e"/>
    <p:sldId xmlns:r="http://schemas.openxmlformats.org/officeDocument/2006/relationships" id="263" r:id="Re61eb8ad517049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7e41e98eab417f" /><Relationship Type="http://schemas.openxmlformats.org/officeDocument/2006/relationships/slideMaster" Target="/ppt/slideMasters/slideMaster1.xml" Id="Ra59cdea31db94683" /><Relationship Type="http://schemas.openxmlformats.org/officeDocument/2006/relationships/notesMaster" Target="/ppt/notesMasters/notesMaster1.xml" Id="R48316f2e443f4c4e" /><Relationship Type="http://schemas.openxmlformats.org/officeDocument/2006/relationships/presProps" Target="/ppt/presProps.xml" Id="Ra77bf43fd8cd4870" /><Relationship Type="http://schemas.openxmlformats.org/officeDocument/2006/relationships/tableStyles" Target="/ppt/tableStyles.xml" Id="Re663b41f96f54812" /><Relationship Type="http://schemas.openxmlformats.org/officeDocument/2006/relationships/slide" Target="/ppt/slides/slide1.xml" Id="R4db712bdcda84556" /><Relationship Type="http://schemas.openxmlformats.org/officeDocument/2006/relationships/slide" Target="/ppt/slides/slide2.xml" Id="Rff49f6ac27f34392" /><Relationship Type="http://schemas.openxmlformats.org/officeDocument/2006/relationships/slide" Target="/ppt/slides/slide3.xml" Id="R485b4101c2f94972" /><Relationship Type="http://schemas.openxmlformats.org/officeDocument/2006/relationships/slide" Target="/ppt/slides/slide4.xml" Id="R9d62a77521eb4679" /><Relationship Type="http://schemas.openxmlformats.org/officeDocument/2006/relationships/slide" Target="/ppt/slides/slide5.xml" Id="Rdcf4aa3afb564faa" /><Relationship Type="http://schemas.openxmlformats.org/officeDocument/2006/relationships/slide" Target="/ppt/slides/slide6.xml" Id="R838b900ef1e74202" /><Relationship Type="http://schemas.openxmlformats.org/officeDocument/2006/relationships/slide" Target="/ppt/slides/slide7.xml" Id="Rb22a7396bab4439e" /><Relationship Type="http://schemas.openxmlformats.org/officeDocument/2006/relationships/slide" Target="/ppt/slides/slide8.xml" Id="Re61eb8ad517049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5af7d4f8534d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a34b95cdfe4b6a" /><Relationship Type="http://schemas.openxmlformats.org/officeDocument/2006/relationships/notesMaster" Target="/ppt/notesMasters/notesMaster1.xml" Id="Rc572c5484f0541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6953a15ef944c6" /><Relationship Type="http://schemas.openxmlformats.org/officeDocument/2006/relationships/notesMaster" Target="/ppt/notesMasters/notesMaster1.xml" Id="R00c65037933148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257e5a10ec4bf2" /><Relationship Type="http://schemas.openxmlformats.org/officeDocument/2006/relationships/notesMaster" Target="/ppt/notesMasters/notesMaster1.xml" Id="R4aff7dabef7148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9798d7edcc4901" /><Relationship Type="http://schemas.openxmlformats.org/officeDocument/2006/relationships/notesMaster" Target="/ppt/notesMasters/notesMaster1.xml" Id="Rf5d589671aed4d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8172cfaaf74d85" /><Relationship Type="http://schemas.openxmlformats.org/officeDocument/2006/relationships/notesMaster" Target="/ppt/notesMasters/notesMaster1.xml" Id="Re1e1d38b441b4d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06426c27a94f0b" /><Relationship Type="http://schemas.openxmlformats.org/officeDocument/2006/relationships/notesMaster" Target="/ppt/notesMasters/notesMaster1.xml" Id="R85edde4c202a40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c94d464a3b46c7" /><Relationship Type="http://schemas.openxmlformats.org/officeDocument/2006/relationships/notesMaster" Target="/ppt/notesMasters/notesMaster1.xml" Id="R7c357878f5984d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fc2d3b1cea4d44" /><Relationship Type="http://schemas.openxmlformats.org/officeDocument/2006/relationships/notesMaster" Target="/ppt/notesMasters/notesMaster1.xml" Id="Ra24437eb403540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VoiceRAG turns recordings into searchable transcripts and cited answers. Project repository: https://github.com/Premshaivas/voiceRAG.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user problem first: finding one fact in a long recording can take repeated searching. VoiceRAG connects media ingestion to searchable transcripts and cited answers.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end-to-end path from source submission through transcription and retrieval to evidence-backed answers. YouTube import depends on network access and downloader availability for that video.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as documented in the project README and Compose setup. The language-model answer provider is configurable; transcription uses AssemblyAI.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a demo storyboard. The accompanying docs/DEMO_VIDEO_SCRIPT.md provides timed narration, screen actions, and recording notes. Hide credentials during recording.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question and passage in the panel are illustrative UI copy, not a recorded test result. Explain that retrieved transcript evidence is inspectable and that the fallback is labeled when model access is unavailable.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security and operations capabilities are documented in the README and application configuration. Remind the presenter to keep real environment files and credentials out of the video and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work reported 22 backend tests passing with one warning, a successful frontend build, valid Compose config, and successful readiness, dependency, and AssemblyAI authentication checks. A live LLM Gateway request was rejected because the configured account did not have access to the tested model. Do not claim generated Q&amp;A has passed until a provider is enabled and 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d8aed014004e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21a1f8ccc2458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a03c455a8f4b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032abe367144a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4b6d319e394a9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ea810e0f9e4e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987875-E3CF-4C1E-A26F-6CFC6F40BE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995FC07-A90D-4120-B460-EB7B9FF6CE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8219D7A-8C9D-49CB-A8B8-458E569719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FDEB32-9BB1-4438-817E-CA80DB4A43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DE4449C-CE5B-49EC-B175-6DAA9363EC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8DC363B-9C48-4208-98A5-7AFE212755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37386C-036C-4FF7-A93C-24B77CB67D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76AC83C-1333-4D16-980E-1477D0A2C69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E7D172-1C2A-456F-854A-4078BA04B7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12E98F9-31C7-4418-B2CA-829FDED7F7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6accc798864c34" /><Relationship Type="http://schemas.openxmlformats.org/officeDocument/2006/relationships/slideLayout" Target="/ppt/slideLayouts/slideLayout1.xml" Id="R1280fd909cf34609" /><Relationship Type="http://schemas.openxmlformats.org/officeDocument/2006/relationships/slideLayout" Target="/ppt/slideLayouts/slideLayout2.xml" Id="R8615323317cc4bac" /><Relationship Type="http://schemas.openxmlformats.org/officeDocument/2006/relationships/slideLayout" Target="/ppt/slideLayouts/slideLayout3.xml" Id="Re2015a4977d940f0" /><Relationship Type="http://schemas.openxmlformats.org/officeDocument/2006/relationships/slideLayout" Target="/ppt/slideLayouts/slideLayout4.xml" Id="Re08bb280816748be" /><Relationship Type="http://schemas.openxmlformats.org/officeDocument/2006/relationships/slideLayout" Target="/ppt/slideLayouts/slideLayout5.xml" Id="R02b7917cf1e749d9" /><Relationship Type="http://schemas.openxmlformats.org/officeDocument/2006/relationships/slideLayout" Target="/ppt/slideLayouts/slideLayout6.xml" Id="Re70c98178bb345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80fd909cf34609"/>
    <p:sldLayoutId xmlns:r="http://schemas.openxmlformats.org/officeDocument/2006/relationships" id="2147483650" r:id="R8615323317cc4bac"/>
    <p:sldLayoutId xmlns:r="http://schemas.openxmlformats.org/officeDocument/2006/relationships" id="2147483651" r:id="Re2015a4977d940f0"/>
    <p:sldLayoutId xmlns:r="http://schemas.openxmlformats.org/officeDocument/2006/relationships" id="2147483652" r:id="Re08bb280816748be"/>
    <p:sldLayoutId xmlns:r="http://schemas.openxmlformats.org/officeDocument/2006/relationships" id="2147483653" r:id="R02b7917cf1e749d9"/>
    <p:sldLayoutId xmlns:r="http://schemas.openxmlformats.org/officeDocument/2006/relationships" id="2147483654" r:id="Re70c98178bb345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c8b5eb50b14d37" /><Relationship Type="http://schemas.openxmlformats.org/officeDocument/2006/relationships/notesSlide" Target="/ppt/notesSlides/notesSlide1.xml" Id="R822df82e698d4b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b4bbf9fd794e7f" /><Relationship Type="http://schemas.openxmlformats.org/officeDocument/2006/relationships/notesSlide" Target="/ppt/notesSlides/notesSlide2.xml" Id="Rf627c0d582a845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3a74ef466f4eab" /><Relationship Type="http://schemas.openxmlformats.org/officeDocument/2006/relationships/notesSlide" Target="/ppt/notesSlides/notesSlide3.xml" Id="R9d4f5a33fbea46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9fb198145f4566" /><Relationship Type="http://schemas.openxmlformats.org/officeDocument/2006/relationships/notesSlide" Target="/ppt/notesSlides/notesSlide4.xml" Id="R578c77bf6eb446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41ebbf9baa4640" /><Relationship Type="http://schemas.openxmlformats.org/officeDocument/2006/relationships/notesSlide" Target="/ppt/notesSlides/notesSlide5.xml" Id="Rab330fb20a7541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b57150560949ee" /><Relationship Type="http://schemas.openxmlformats.org/officeDocument/2006/relationships/notesSlide" Target="/ppt/notesSlides/notesSlide6.xml" Id="R3d304e91916148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72939c0bf7414c" /><Relationship Type="http://schemas.openxmlformats.org/officeDocument/2006/relationships/notesSlide" Target="/ppt/notesSlides/notesSlide7.xml" Id="R86e665e7d66540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a0deeda902428a" /><Relationship Type="http://schemas.openxmlformats.org/officeDocument/2006/relationships/notesSlide" Target="/ppt/notesSlides/notesSlide8.xml" Id="Rb2989bcff10244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4D5E057-6DC3-403E-B3A5-D4A597E1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762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8A6"/>
          </a:solidFill>
          <a:ln xmlns:a="http://schemas.openxmlformats.org/drawingml/2006/main" w="0">
            <a:noFill/>
          </a:ln>
        </p:spPr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9AA3292-3B03-40A4-96E8-B8611F6D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95425"/>
            <a:ext cx="96202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Turn video</a:t>
            </a:r>
          </a:p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into answers.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4CCEB73-FE0B-40E6-94FF-CCFC5385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C5D0D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5D0DF"/>
                </a:solidFill>
                <a:latin typeface="Arial"/>
                <a:ea typeface="Arial"/>
                <a:cs typeface="Arial"/>
              </a:rPr>
              <a:t>Searchable transcripts and source-grounded Q&amp;A for audio and video.</a:t>
            </a:r>
          </a:p>
        </p:txBody>
      </p:sp>
      <p:sp>
        <p:nvSpPr>
          <p:cNvPr id="4" name="cover-chip">
            <a:extLst xmlns:a="http://schemas.openxmlformats.org/drawingml/2006/main">
              <a:ext uri="{FF2B5EF4-FFF2-40B4-BE49-F238E27FC236}">
                <a16:creationId xmlns:a16="http://schemas.microsoft.com/office/drawing/2014/main" id="{F70AEFF5-B94E-4052-A383-6B6E1B86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3028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C30"/>
          </a:solidFill>
          <a:ln xmlns:a="http://schemas.openxmlformats.org/drawingml/2006/main" w="0">
            <a:noFill/>
          </a:ln>
        </p:spPr>
      </p:sp>
      <p:sp>
        <p:nvSpPr>
          <p:cNvPr id="5" name="cover-chip-label">
            <a:extLst xmlns:a="http://schemas.openxmlformats.org/drawingml/2006/main">
              <a:ext uri="{FF2B5EF4-FFF2-40B4-BE49-F238E27FC236}">
                <a16:creationId xmlns:a16="http://schemas.microsoft.com/office/drawing/2014/main" id="{1EC7AAB6-10A0-4B00-A831-659B32D6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43525"/>
            <a:ext cx="2800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E6D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E6D7"/>
                </a:solidFill>
                <a:latin typeface="Arial"/>
                <a:ea typeface="Arial"/>
                <a:cs typeface="Arial"/>
              </a:rPr>
              <a:t>ASSEMBLYAI  ·  QDRANT  ·  FASTAPI</a:t>
            </a:r>
          </a:p>
        </p:txBody>
      </p:sp>
      <p:sp>
        <p:nvSpPr>
          <p:cNvPr id="6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810C1C42-3C34-4C67-B28D-C5F670E1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484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809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18096"/>
                </a:solidFill>
                <a:latin typeface="Arial"/>
                <a:ea typeface="Arial"/>
                <a:cs typeface="Arial"/>
              </a:rPr>
              <a:t>VOICERAG  •  GITHUB.COM/PREMSHAIVAS/VOICERAG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88BBE80-B460-4083-916A-706D995F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809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39985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AC875A40-1175-466E-84BE-3D0545C9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278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261987-8C3A-45F2-AB7E-E1DE1ECA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5325"/>
            <a:ext cx="10744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238"/>
                </a:solidFill>
                <a:latin typeface="Arial"/>
                <a:ea typeface="Arial"/>
                <a:cs typeface="Arial"/>
              </a:rPr>
              <a:t>Find the moment. Ask the question.</a:t>
            </a:r>
          </a:p>
        </p:txBody>
      </p:sp>
      <p:sp>
        <p:nvSpPr>
          <p:cNvPr id="3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B64CD9DF-3DCE-4C73-93E1-A97F85D0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238"/>
                </a:solidFill>
                <a:latin typeface="Arial"/>
                <a:ea typeface="Arial"/>
                <a:cs typeface="Arial"/>
              </a:rPr>
              <a:t>Useful information is buried inside long recordings.</a:t>
            </a:r>
          </a:p>
        </p:txBody>
      </p:sp>
      <p:sp>
        <p:nvSpPr>
          <p:cNvPr id="4" name="card-01">
            <a:extLst xmlns:a="http://schemas.openxmlformats.org/drawingml/2006/main">
              <a:ext uri="{FF2B5EF4-FFF2-40B4-BE49-F238E27FC236}">
                <a16:creationId xmlns:a16="http://schemas.microsoft.com/office/drawing/2014/main" id="{4C4A9C6E-D219-4695-8AA8-81821DB7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32385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9"/>
            </a:solidFill>
          </a:ln>
        </p:spPr>
      </p:sp>
      <p:sp>
        <p:nvSpPr>
          <p:cNvPr id="5" name="number-01">
            <a:extLst xmlns:a="http://schemas.openxmlformats.org/drawingml/2006/main">
              <a:ext uri="{FF2B5EF4-FFF2-40B4-BE49-F238E27FC236}">
                <a16:creationId xmlns:a16="http://schemas.microsoft.com/office/drawing/2014/main" id="{DACF308B-3FB7-4B45-A7A5-C8B25749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956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B8A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B8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heading-01">
            <a:extLst xmlns:a="http://schemas.openxmlformats.org/drawingml/2006/main">
              <a:ext uri="{FF2B5EF4-FFF2-40B4-BE49-F238E27FC236}">
                <a16:creationId xmlns:a16="http://schemas.microsoft.com/office/drawing/2014/main" id="{CC3E744B-3F64-4BBC-B831-F66E6E0D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238"/>
                </a:solidFill>
                <a:latin typeface="Arial"/>
                <a:ea typeface="Arial"/>
                <a:cs typeface="Arial"/>
              </a:rPr>
              <a:t>Bring media</a:t>
            </a:r>
          </a:p>
        </p:txBody>
      </p:sp>
      <p:sp>
        <p:nvSpPr>
          <p:cNvPr id="7" name="body-01">
            <a:extLst xmlns:a="http://schemas.openxmlformats.org/drawingml/2006/main">
              <a:ext uri="{FF2B5EF4-FFF2-40B4-BE49-F238E27FC236}">
                <a16:creationId xmlns:a16="http://schemas.microsoft.com/office/drawing/2014/main" id="{F4473234-A9E9-4389-8138-2D2993AE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76675"/>
            <a:ext cx="2724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278"/>
                </a:solidFill>
                <a:latin typeface="Arial"/>
                <a:ea typeface="Arial"/>
                <a:cs typeface="Arial"/>
              </a:rPr>
              <a:t>Upload a recording or import a supported video link.</a:t>
            </a:r>
          </a:p>
        </p:txBody>
      </p:sp>
      <p:sp>
        <p:nvSpPr>
          <p:cNvPr id="8" name="card-02">
            <a:extLst xmlns:a="http://schemas.openxmlformats.org/drawingml/2006/main">
              <a:ext uri="{FF2B5EF4-FFF2-40B4-BE49-F238E27FC236}">
                <a16:creationId xmlns:a16="http://schemas.microsoft.com/office/drawing/2014/main" id="{C6B4294E-A4D3-493E-BC42-F5D1310D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32385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9"/>
            </a:solidFill>
          </a:ln>
        </p:spPr>
      </p:sp>
      <p:sp>
        <p:nvSpPr>
          <p:cNvPr id="9" name="number-02">
            <a:extLst xmlns:a="http://schemas.openxmlformats.org/drawingml/2006/main">
              <a:ext uri="{FF2B5EF4-FFF2-40B4-BE49-F238E27FC236}">
                <a16:creationId xmlns:a16="http://schemas.microsoft.com/office/drawing/2014/main" id="{1268B8BE-1B75-4E9D-82DD-B49E46A7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956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B8A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B8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heading-02">
            <a:extLst xmlns:a="http://schemas.openxmlformats.org/drawingml/2006/main">
              <a:ext uri="{FF2B5EF4-FFF2-40B4-BE49-F238E27FC236}">
                <a16:creationId xmlns:a16="http://schemas.microsoft.com/office/drawing/2014/main" id="{C8527CAC-7DF5-450C-A916-98FB1B3F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5280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238"/>
                </a:solidFill>
                <a:latin typeface="Arial"/>
                <a:ea typeface="Arial"/>
                <a:cs typeface="Arial"/>
              </a:rPr>
              <a:t>Make it searchable</a:t>
            </a:r>
          </a:p>
        </p:txBody>
      </p:sp>
      <p:sp>
        <p:nvSpPr>
          <p:cNvPr id="11" name="body-02">
            <a:extLst xmlns:a="http://schemas.openxmlformats.org/drawingml/2006/main">
              <a:ext uri="{FF2B5EF4-FFF2-40B4-BE49-F238E27FC236}">
                <a16:creationId xmlns:a16="http://schemas.microsoft.com/office/drawing/2014/main" id="{4E31F3E9-EE91-43A7-A62C-20274C6F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76675"/>
            <a:ext cx="2724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278"/>
                </a:solidFill>
                <a:latin typeface="Arial"/>
                <a:ea typeface="Arial"/>
                <a:cs typeface="Arial"/>
              </a:rPr>
              <a:t>Transcribe speech and keep its source timing.</a:t>
            </a:r>
          </a:p>
        </p:txBody>
      </p:sp>
      <p:sp>
        <p:nvSpPr>
          <p:cNvPr id="12" name="card-03">
            <a:extLst xmlns:a="http://schemas.openxmlformats.org/drawingml/2006/main">
              <a:ext uri="{FF2B5EF4-FFF2-40B4-BE49-F238E27FC236}">
                <a16:creationId xmlns:a16="http://schemas.microsoft.com/office/drawing/2014/main" id="{FC54E04A-4692-4EB9-A552-36803FE8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67000"/>
            <a:ext cx="32385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9"/>
            </a:solidFill>
          </a:ln>
        </p:spPr>
      </p:sp>
      <p:sp>
        <p:nvSpPr>
          <p:cNvPr id="13" name="number-03">
            <a:extLst xmlns:a="http://schemas.openxmlformats.org/drawingml/2006/main">
              <a:ext uri="{FF2B5EF4-FFF2-40B4-BE49-F238E27FC236}">
                <a16:creationId xmlns:a16="http://schemas.microsoft.com/office/drawing/2014/main" id="{616FE72B-7D3B-4F97-8ACE-A45F8E0B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B8A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B8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heading-03">
            <a:extLst xmlns:a="http://schemas.openxmlformats.org/drawingml/2006/main">
              <a:ext uri="{FF2B5EF4-FFF2-40B4-BE49-F238E27FC236}">
                <a16:creationId xmlns:a16="http://schemas.microsoft.com/office/drawing/2014/main" id="{9E7039AF-8D1B-405D-80F4-C186E707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5280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238"/>
                </a:solidFill>
                <a:latin typeface="Arial"/>
                <a:ea typeface="Arial"/>
                <a:cs typeface="Arial"/>
              </a:rPr>
              <a:t>Get grounded answers</a:t>
            </a:r>
          </a:p>
        </p:txBody>
      </p:sp>
      <p:sp>
        <p:nvSpPr>
          <p:cNvPr id="15" name="body-03">
            <a:extLst xmlns:a="http://schemas.openxmlformats.org/drawingml/2006/main">
              <a:ext uri="{FF2B5EF4-FFF2-40B4-BE49-F238E27FC236}">
                <a16:creationId xmlns:a16="http://schemas.microsoft.com/office/drawing/2014/main" id="{38047E62-08A4-41E5-9694-D83F6B06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76675"/>
            <a:ext cx="2724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278"/>
                </a:solidFill>
                <a:latin typeface="Arial"/>
                <a:ea typeface="Arial"/>
                <a:cs typeface="Arial"/>
              </a:rPr>
              <a:t>Retrieve matching passages and inspect their citations.</a:t>
            </a:r>
          </a:p>
        </p:txBody>
      </p:sp>
      <p:sp>
        <p:nvSpPr>
          <p:cNvPr id="16" name="value-caption">
            <a:extLst xmlns:a="http://schemas.openxmlformats.org/drawingml/2006/main">
              <a:ext uri="{FF2B5EF4-FFF2-40B4-BE49-F238E27FC236}">
                <a16:creationId xmlns:a16="http://schemas.microsoft.com/office/drawing/2014/main" id="{AF902316-9820-4D12-99AD-BB2F1740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8"/>
                </a:solidFill>
                <a:latin typeface="Arial"/>
                <a:ea typeface="Arial"/>
                <a:cs typeface="Arial"/>
              </a:rPr>
              <a:t>Less scrubbing through timelines. More time using what was said.</a:t>
            </a:r>
          </a:p>
        </p:txBody>
      </p:sp>
      <p:sp>
        <p:nvSpPr>
          <p:cNvPr id="1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49BEF4EF-F98F-4965-B9B9-922F1845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484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879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A8799"/>
                </a:solidFill>
                <a:latin typeface="Arial"/>
                <a:ea typeface="Arial"/>
                <a:cs typeface="Arial"/>
              </a:rPr>
              <a:t>VOICERAG  •  GITHUB.COM/PREMSHAIVAS/VOICERAG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FB3122D-FC08-4DB8-9AB7-80655718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79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A879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809981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0F7078EE-3091-45FA-BEFC-D4907057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E6D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E6D7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521C37-C6C1-4593-9BB8-CB0B1D27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5325"/>
            <a:ext cx="10744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media to evidence in four steps</a:t>
            </a:r>
          </a:p>
        </p:txBody>
      </p:sp>
      <p:sp>
        <p:nvSpPr>
          <p:cNvPr id="3" name="step-dot-01">
            <a:extLst xmlns:a="http://schemas.openxmlformats.org/drawingml/2006/main">
              <a:ext uri="{FF2B5EF4-FFF2-40B4-BE49-F238E27FC236}">
                <a16:creationId xmlns:a16="http://schemas.microsoft.com/office/drawing/2014/main" id="{FD3597B7-EB40-482B-94D3-1F9CD9C9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85925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C30"/>
          </a:solidFill>
          <a:ln xmlns:a="http://schemas.openxmlformats.org/drawingml/2006/main" w="0">
            <a:noFill/>
          </a:ln>
        </p:spPr>
      </p:sp>
      <p:sp>
        <p:nvSpPr>
          <p:cNvPr id="4" name="step-number-01">
            <a:extLst xmlns:a="http://schemas.openxmlformats.org/drawingml/2006/main">
              <a:ext uri="{FF2B5EF4-FFF2-40B4-BE49-F238E27FC236}">
                <a16:creationId xmlns:a16="http://schemas.microsoft.com/office/drawing/2014/main" id="{8C4C14D6-14EB-486F-A00A-348CA1F5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383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B8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B8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step-heading-01">
            <a:extLst xmlns:a="http://schemas.openxmlformats.org/drawingml/2006/main">
              <a:ext uri="{FF2B5EF4-FFF2-40B4-BE49-F238E27FC236}">
                <a16:creationId xmlns:a16="http://schemas.microsoft.com/office/drawing/2014/main" id="{1F50E209-FF5A-47D8-A8B1-36C8ABB6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6954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Add a source</a:t>
            </a:r>
          </a:p>
        </p:txBody>
      </p:sp>
      <p:sp>
        <p:nvSpPr>
          <p:cNvPr id="6" name="step-body-01">
            <a:extLst xmlns:a="http://schemas.openxmlformats.org/drawingml/2006/main">
              <a:ext uri="{FF2B5EF4-FFF2-40B4-BE49-F238E27FC236}">
                <a16:creationId xmlns:a16="http://schemas.microsoft.com/office/drawing/2014/main" id="{FF3C315D-92F5-4CD8-B3E0-80D1B00F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14500"/>
            <a:ext cx="685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5D0D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5D0DF"/>
                </a:solidFill>
                <a:latin typeface="Arial"/>
                <a:ea typeface="Arial"/>
                <a:cs typeface="Arial"/>
              </a:rPr>
              <a:t>Upload audio/video or submit an accessible YouTube URL.</a:t>
            </a:r>
          </a:p>
        </p:txBody>
      </p:sp>
      <p:sp>
        <p:nvSpPr>
          <p:cNvPr id="7" name="step-dot-02">
            <a:extLst xmlns:a="http://schemas.openxmlformats.org/drawingml/2006/main">
              <a:ext uri="{FF2B5EF4-FFF2-40B4-BE49-F238E27FC236}">
                <a16:creationId xmlns:a16="http://schemas.microsoft.com/office/drawing/2014/main" id="{65279D10-E424-41B7-83B4-15B5EBE2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52725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C30"/>
          </a:solidFill>
          <a:ln xmlns:a="http://schemas.openxmlformats.org/drawingml/2006/main" w="0">
            <a:noFill/>
          </a:ln>
        </p:spPr>
      </p:sp>
      <p:sp>
        <p:nvSpPr>
          <p:cNvPr id="8" name="step-number-02">
            <a:extLst xmlns:a="http://schemas.openxmlformats.org/drawingml/2006/main">
              <a:ext uri="{FF2B5EF4-FFF2-40B4-BE49-F238E27FC236}">
                <a16:creationId xmlns:a16="http://schemas.microsoft.com/office/drawing/2014/main" id="{94DD6187-B936-4779-8183-69B9662C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B8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B8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heading-02">
            <a:extLst xmlns:a="http://schemas.openxmlformats.org/drawingml/2006/main">
              <a:ext uri="{FF2B5EF4-FFF2-40B4-BE49-F238E27FC236}">
                <a16:creationId xmlns:a16="http://schemas.microsoft.com/office/drawing/2014/main" id="{E7F87039-F667-4D30-BFCE-DB863B7F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762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Transcribe</a:t>
            </a:r>
          </a:p>
        </p:txBody>
      </p:sp>
      <p:sp>
        <p:nvSpPr>
          <p:cNvPr id="10" name="step-body-02">
            <a:extLst xmlns:a="http://schemas.openxmlformats.org/drawingml/2006/main">
              <a:ext uri="{FF2B5EF4-FFF2-40B4-BE49-F238E27FC236}">
                <a16:creationId xmlns:a16="http://schemas.microsoft.com/office/drawing/2014/main" id="{73E9E62F-25B9-4D8B-92A8-D5906420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81300"/>
            <a:ext cx="685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5D0D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5D0DF"/>
                </a:solidFill>
                <a:latin typeface="Arial"/>
                <a:ea typeface="Arial"/>
                <a:cs typeface="Arial"/>
              </a:rPr>
              <a:t>Extract audio and send it to AssemblyAI speech-to-text.</a:t>
            </a:r>
          </a:p>
        </p:txBody>
      </p:sp>
      <p:sp>
        <p:nvSpPr>
          <p:cNvPr id="11" name="step-dot-03">
            <a:extLst xmlns:a="http://schemas.openxmlformats.org/drawingml/2006/main">
              <a:ext uri="{FF2B5EF4-FFF2-40B4-BE49-F238E27FC236}">
                <a16:creationId xmlns:a16="http://schemas.microsoft.com/office/drawing/2014/main" id="{F9EC6BE0-B1BE-4523-9417-BCB54682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9525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C30"/>
          </a:solidFill>
          <a:ln xmlns:a="http://schemas.openxmlformats.org/drawingml/2006/main" w="0">
            <a:noFill/>
          </a:ln>
        </p:spPr>
      </p:sp>
      <p:sp>
        <p:nvSpPr>
          <p:cNvPr id="12" name="step-number-03">
            <a:extLst xmlns:a="http://schemas.openxmlformats.org/drawingml/2006/main">
              <a:ext uri="{FF2B5EF4-FFF2-40B4-BE49-F238E27FC236}">
                <a16:creationId xmlns:a16="http://schemas.microsoft.com/office/drawing/2014/main" id="{092F4CB0-7A7A-4112-A145-1A49B44C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719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B8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B8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step-heading-03">
            <a:extLst xmlns:a="http://schemas.openxmlformats.org/drawingml/2006/main">
              <a:ext uri="{FF2B5EF4-FFF2-40B4-BE49-F238E27FC236}">
                <a16:creationId xmlns:a16="http://schemas.microsoft.com/office/drawing/2014/main" id="{BD55D7EE-F637-4B29-A769-875AFB67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8290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Index</a:t>
            </a:r>
          </a:p>
        </p:txBody>
      </p:sp>
      <p:sp>
        <p:nvSpPr>
          <p:cNvPr id="14" name="step-body-03">
            <a:extLst xmlns:a="http://schemas.openxmlformats.org/drawingml/2006/main">
              <a:ext uri="{FF2B5EF4-FFF2-40B4-BE49-F238E27FC236}">
                <a16:creationId xmlns:a16="http://schemas.microsoft.com/office/drawing/2014/main" id="{A9AEBD7F-1E1A-4812-9D96-FF3CE4BC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848100"/>
            <a:ext cx="685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5D0D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5D0DF"/>
                </a:solidFill>
                <a:latin typeface="Arial"/>
                <a:ea typeface="Arial"/>
                <a:cs typeface="Arial"/>
              </a:rPr>
              <a:t>Store transcript segments for semantic retrieval.</a:t>
            </a:r>
          </a:p>
        </p:txBody>
      </p:sp>
      <p:sp>
        <p:nvSpPr>
          <p:cNvPr id="15" name="step-dot-04">
            <a:extLst xmlns:a="http://schemas.openxmlformats.org/drawingml/2006/main">
              <a:ext uri="{FF2B5EF4-FFF2-40B4-BE49-F238E27FC236}">
                <a16:creationId xmlns:a16="http://schemas.microsoft.com/office/drawing/2014/main" id="{F54DDF11-13AD-4D7A-B673-A9970C05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86325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C30"/>
          </a:solidFill>
          <a:ln xmlns:a="http://schemas.openxmlformats.org/drawingml/2006/main" w="0">
            <a:noFill/>
          </a:ln>
        </p:spPr>
      </p:sp>
      <p:sp>
        <p:nvSpPr>
          <p:cNvPr id="16" name="step-number-04">
            <a:extLst xmlns:a="http://schemas.openxmlformats.org/drawingml/2006/main">
              <a:ext uri="{FF2B5EF4-FFF2-40B4-BE49-F238E27FC236}">
                <a16:creationId xmlns:a16="http://schemas.microsoft.com/office/drawing/2014/main" id="{C51B7B6E-D48A-41D8-956F-BBA6AB81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387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B8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B8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step-heading-04">
            <a:extLst xmlns:a="http://schemas.openxmlformats.org/drawingml/2006/main">
              <a:ext uri="{FF2B5EF4-FFF2-40B4-BE49-F238E27FC236}">
                <a16:creationId xmlns:a16="http://schemas.microsoft.com/office/drawing/2014/main" id="{2CD55E6E-7985-4D79-BF9C-20646727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8958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18" name="step-body-04">
            <a:extLst xmlns:a="http://schemas.openxmlformats.org/drawingml/2006/main">
              <a:ext uri="{FF2B5EF4-FFF2-40B4-BE49-F238E27FC236}">
                <a16:creationId xmlns:a16="http://schemas.microsoft.com/office/drawing/2014/main" id="{7E8AA3DE-ED64-4729-8944-A5F3FE82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914900"/>
            <a:ext cx="685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5D0D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5D0DF"/>
                </a:solidFill>
                <a:latin typeface="Arial"/>
                <a:ea typeface="Arial"/>
                <a:cs typeface="Arial"/>
              </a:rPr>
              <a:t>Retrieve relevant passages and show source citations.</a:t>
            </a:r>
          </a:p>
        </p:txBody>
      </p:sp>
      <p:sp>
        <p:nvSpPr>
          <p:cNvPr id="1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C17A5B14-9DDF-484A-82C1-2A231568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484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809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18096"/>
                </a:solidFill>
                <a:latin typeface="Arial"/>
                <a:ea typeface="Arial"/>
                <a:cs typeface="Arial"/>
              </a:rPr>
              <a:t>VOICERAG  •  GITHUB.COM/PREMSHAIVAS/VOICERAG</a:t>
            </a:r>
          </a:p>
        </p:txBody>
      </p:sp>
      <p:sp>
        <p:nvSpPr>
          <p:cNvPr id="2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1A1202B-BCB8-471B-8E7A-89F061A2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809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888157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38108186-BA61-4CD5-9E44-7DB277F6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278"/>
                </a:solidFill>
                <a:latin typeface="Arial"/>
                <a:ea typeface="Arial"/>
                <a:cs typeface="Arial"/>
              </a:rPr>
              <a:t>PROJECT 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CCB211-AB1E-4082-87AF-BAE99E0A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5325"/>
            <a:ext cx="10744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238"/>
                </a:solidFill>
                <a:latin typeface="Arial"/>
                <a:ea typeface="Arial"/>
                <a:cs typeface="Arial"/>
              </a:rPr>
              <a:t>A full-stack pipeline with clear service boundaries</a:t>
            </a:r>
          </a:p>
        </p:txBody>
      </p:sp>
      <p:sp>
        <p:nvSpPr>
          <p:cNvPr id="3" name="arch-card-0">
            <a:extLst xmlns:a="http://schemas.openxmlformats.org/drawingml/2006/main">
              <a:ext uri="{FF2B5EF4-FFF2-40B4-BE49-F238E27FC236}">
                <a16:creationId xmlns:a16="http://schemas.microsoft.com/office/drawing/2014/main" id="{B04C69B1-F391-429B-B063-BC54FC53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305050" cy="33337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9"/>
            </a:solidFill>
          </a:ln>
        </p:spPr>
      </p:sp>
      <p:sp>
        <p:nvSpPr>
          <p:cNvPr id="4" name="arch-color-0">
            <a:extLst xmlns:a="http://schemas.openxmlformats.org/drawingml/2006/main">
              <a:ext uri="{FF2B5EF4-FFF2-40B4-BE49-F238E27FC236}">
                <a16:creationId xmlns:a16="http://schemas.microsoft.com/office/drawing/2014/main" id="{F35BDB2F-FFF0-4261-861E-D92E12A5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305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8A6"/>
          </a:solidFill>
          <a:ln xmlns:a="http://schemas.openxmlformats.org/drawingml/2006/main" w="0">
            <a:noFill/>
          </a:ln>
        </p:spPr>
      </p:sp>
      <p:sp>
        <p:nvSpPr>
          <p:cNvPr id="5" name="arch-eyebrow-0">
            <a:extLst xmlns:a="http://schemas.openxmlformats.org/drawingml/2006/main">
              <a:ext uri="{FF2B5EF4-FFF2-40B4-BE49-F238E27FC236}">
                <a16:creationId xmlns:a16="http://schemas.microsoft.com/office/drawing/2014/main" id="{C5CF3951-B177-4DDD-B0F2-C46F52EC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278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6" name="arch-big-0">
            <a:extLst xmlns:a="http://schemas.openxmlformats.org/drawingml/2006/main">
              <a:ext uri="{FF2B5EF4-FFF2-40B4-BE49-F238E27FC236}">
                <a16:creationId xmlns:a16="http://schemas.microsoft.com/office/drawing/2014/main" id="{5EBD47C5-B500-4455-9E71-72308031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19716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238"/>
                </a:solidFill>
                <a:latin typeface="Arial"/>
                <a:ea typeface="Arial"/>
                <a:cs typeface="Arial"/>
              </a:rPr>
              <a:t>React + Vite</a:t>
            </a:r>
          </a:p>
        </p:txBody>
      </p:sp>
      <p:sp>
        <p:nvSpPr>
          <p:cNvPr id="7" name="arch-details-0">
            <a:extLst xmlns:a="http://schemas.openxmlformats.org/drawingml/2006/main">
              <a:ext uri="{FF2B5EF4-FFF2-40B4-BE49-F238E27FC236}">
                <a16:creationId xmlns:a16="http://schemas.microsoft.com/office/drawing/2014/main" id="{0AC90137-89AF-4834-A67B-18B472DC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1981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8"/>
                </a:solidFill>
                <a:latin typeface="Arial"/>
                <a:ea typeface="Arial"/>
                <a:cs typeface="Arial"/>
              </a:rPr>
              <a:t>Upload and YouTube import</a:t>
            </a:r>
          </a:p>
          <a:p xmlns:a="http://schemas.openxmlformats.org/drawingml/2006/main">
            <a:pPr algn="l">
              <a:defRPr sz="1200" b="0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8"/>
                </a:solidFill>
                <a:latin typeface="Arial"/>
                <a:ea typeface="Arial"/>
                <a:cs typeface="Arial"/>
              </a:rPr>
              <a:t>Transcript and key-point review</a:t>
            </a:r>
          </a:p>
          <a:p xmlns:a="http://schemas.openxmlformats.org/drawingml/2006/main">
            <a:pPr algn="l">
              <a:defRPr sz="1200" b="0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8"/>
                </a:solidFill>
                <a:latin typeface="Arial"/>
                <a:ea typeface="Arial"/>
                <a:cs typeface="Arial"/>
              </a:rPr>
              <a:t>Question and citation interface</a:t>
            </a:r>
          </a:p>
        </p:txBody>
      </p:sp>
      <p:sp>
        <p:nvSpPr>
          <p:cNvPr id="8" name="arch-card-1">
            <a:extLst xmlns:a="http://schemas.openxmlformats.org/drawingml/2006/main">
              <a:ext uri="{FF2B5EF4-FFF2-40B4-BE49-F238E27FC236}">
                <a16:creationId xmlns:a16="http://schemas.microsoft.com/office/drawing/2014/main" id="{717A59C9-7DC3-483B-963D-3A695A86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809750"/>
            <a:ext cx="2305050" cy="33337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9"/>
            </a:solidFill>
          </a:ln>
        </p:spPr>
      </p:sp>
      <p:sp>
        <p:nvSpPr>
          <p:cNvPr id="9" name="arch-color-1">
            <a:extLst xmlns:a="http://schemas.openxmlformats.org/drawingml/2006/main">
              <a:ext uri="{FF2B5EF4-FFF2-40B4-BE49-F238E27FC236}">
                <a16:creationId xmlns:a16="http://schemas.microsoft.com/office/drawing/2014/main" id="{9F2E4F84-1510-493B-96F5-860C81CE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809750"/>
            <a:ext cx="2305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8D0"/>
          </a:solidFill>
          <a:ln xmlns:a="http://schemas.openxmlformats.org/drawingml/2006/main" w="0">
            <a:noFill/>
          </a:ln>
        </p:spPr>
      </p:sp>
      <p:sp>
        <p:nvSpPr>
          <p:cNvPr id="10" name="arch-eyebrow-1">
            <a:extLst xmlns:a="http://schemas.openxmlformats.org/drawingml/2006/main">
              <a:ext uri="{FF2B5EF4-FFF2-40B4-BE49-F238E27FC236}">
                <a16:creationId xmlns:a16="http://schemas.microsoft.com/office/drawing/2014/main" id="{875D6490-F032-4898-B1EA-25ED0FAC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114550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278"/>
                </a:solidFill>
                <a:latin typeface="Arial"/>
                <a:ea typeface="Arial"/>
                <a:cs typeface="Arial"/>
              </a:rPr>
              <a:t>API + JOBS</a:t>
            </a:r>
          </a:p>
        </p:txBody>
      </p:sp>
      <p:sp>
        <p:nvSpPr>
          <p:cNvPr id="11" name="arch-big-1">
            <a:extLst xmlns:a="http://schemas.openxmlformats.org/drawingml/2006/main">
              <a:ext uri="{FF2B5EF4-FFF2-40B4-BE49-F238E27FC236}">
                <a16:creationId xmlns:a16="http://schemas.microsoft.com/office/drawing/2014/main" id="{A86E7BC3-9CC9-42C9-8CF5-41A99E49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571750"/>
            <a:ext cx="19716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238"/>
                </a:solidFill>
                <a:latin typeface="Arial"/>
                <a:ea typeface="Arial"/>
                <a:cs typeface="Arial"/>
              </a:rPr>
              <a:t>FastAPI + Celery</a:t>
            </a:r>
          </a:p>
        </p:txBody>
      </p:sp>
      <p:sp>
        <p:nvSpPr>
          <p:cNvPr id="12" name="arch-details-1">
            <a:extLst xmlns:a="http://schemas.openxmlformats.org/drawingml/2006/main">
              <a:ext uri="{FF2B5EF4-FFF2-40B4-BE49-F238E27FC236}">
                <a16:creationId xmlns:a16="http://schemas.microsoft.com/office/drawing/2014/main" id="{227D687E-4E8E-4131-80BF-02678908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476625"/>
            <a:ext cx="1981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8"/>
                </a:solidFill>
                <a:latin typeface="Arial"/>
                <a:ea typeface="Arial"/>
                <a:cs typeface="Arial"/>
              </a:rPr>
              <a:t>Authenticated REST endpoints</a:t>
            </a:r>
          </a:p>
          <a:p xmlns:a="http://schemas.openxmlformats.org/drawingml/2006/main">
            <a:pPr algn="l">
              <a:defRPr sz="1200" b="0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8"/>
                </a:solidFill>
                <a:latin typeface="Arial"/>
                <a:ea typeface="Arial"/>
                <a:cs typeface="Arial"/>
              </a:rPr>
              <a:t>Background transcription work</a:t>
            </a:r>
          </a:p>
          <a:p xmlns:a="http://schemas.openxmlformats.org/drawingml/2006/main">
            <a:pPr algn="l">
              <a:defRPr sz="1200" b="0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8"/>
                </a:solidFill>
                <a:latin typeface="Arial"/>
                <a:ea typeface="Arial"/>
                <a:cs typeface="Arial"/>
              </a:rPr>
              <a:t>Redis job queue and scheduler</a:t>
            </a:r>
          </a:p>
        </p:txBody>
      </p:sp>
      <p:sp>
        <p:nvSpPr>
          <p:cNvPr id="13" name="arch-card-2">
            <a:extLst xmlns:a="http://schemas.openxmlformats.org/drawingml/2006/main">
              <a:ext uri="{FF2B5EF4-FFF2-40B4-BE49-F238E27FC236}">
                <a16:creationId xmlns:a16="http://schemas.microsoft.com/office/drawing/2014/main" id="{3889B2AB-2A44-4989-B21F-AFC711F3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2305050" cy="33337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9"/>
            </a:solidFill>
          </a:ln>
        </p:spPr>
      </p:sp>
      <p:sp>
        <p:nvSpPr>
          <p:cNvPr id="14" name="arch-color-2">
            <a:extLst xmlns:a="http://schemas.openxmlformats.org/drawingml/2006/main">
              <a:ext uri="{FF2B5EF4-FFF2-40B4-BE49-F238E27FC236}">
                <a16:creationId xmlns:a16="http://schemas.microsoft.com/office/drawing/2014/main" id="{CBCEB001-D793-43A7-8CA8-ECF66463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2305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70C8"/>
          </a:solidFill>
          <a:ln xmlns:a="http://schemas.openxmlformats.org/drawingml/2006/main" w="0">
            <a:noFill/>
          </a:ln>
        </p:spPr>
      </p:sp>
      <p:sp>
        <p:nvSpPr>
          <p:cNvPr id="15" name="arch-eyebrow-2">
            <a:extLst xmlns:a="http://schemas.openxmlformats.org/drawingml/2006/main">
              <a:ext uri="{FF2B5EF4-FFF2-40B4-BE49-F238E27FC236}">
                <a16:creationId xmlns:a16="http://schemas.microsoft.com/office/drawing/2014/main" id="{68D05972-46C0-438E-84B0-408F45B7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14550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278"/>
                </a:solidFill>
                <a:latin typeface="Arial"/>
                <a:ea typeface="Arial"/>
                <a:cs typeface="Arial"/>
              </a:rPr>
              <a:t>STORAGE + SEARCH</a:t>
            </a:r>
          </a:p>
        </p:txBody>
      </p:sp>
      <p:sp>
        <p:nvSpPr>
          <p:cNvPr id="16" name="arch-big-2">
            <a:extLst xmlns:a="http://schemas.openxmlformats.org/drawingml/2006/main">
              <a:ext uri="{FF2B5EF4-FFF2-40B4-BE49-F238E27FC236}">
                <a16:creationId xmlns:a16="http://schemas.microsoft.com/office/drawing/2014/main" id="{35228933-A2EF-44AE-B55E-6C3D086D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71750"/>
            <a:ext cx="19716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238"/>
                </a:solidFill>
                <a:latin typeface="Arial"/>
                <a:ea typeface="Arial"/>
                <a:cs typeface="Arial"/>
              </a:rPr>
              <a:t>Postgres + Qdrant</a:t>
            </a:r>
          </a:p>
        </p:txBody>
      </p:sp>
      <p:sp>
        <p:nvSpPr>
          <p:cNvPr id="17" name="arch-details-2">
            <a:extLst xmlns:a="http://schemas.openxmlformats.org/drawingml/2006/main">
              <a:ext uri="{FF2B5EF4-FFF2-40B4-BE49-F238E27FC236}">
                <a16:creationId xmlns:a16="http://schemas.microsoft.com/office/drawing/2014/main" id="{9A8A483F-B779-4FCB-878F-D19249A0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76625"/>
            <a:ext cx="1981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8"/>
                </a:solidFill>
                <a:latin typeface="Arial"/>
                <a:ea typeface="Arial"/>
                <a:cs typeface="Arial"/>
              </a:rPr>
              <a:t>Document and user metadata</a:t>
            </a:r>
          </a:p>
          <a:p xmlns:a="http://schemas.openxmlformats.org/drawingml/2006/main">
            <a:pPr algn="l">
              <a:defRPr sz="1200" b="0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8"/>
                </a:solidFill>
                <a:latin typeface="Arial"/>
                <a:ea typeface="Arial"/>
                <a:cs typeface="Arial"/>
              </a:rPr>
              <a:t>Vector search over transcript</a:t>
            </a:r>
          </a:p>
          <a:p xmlns:a="http://schemas.openxmlformats.org/drawingml/2006/main">
            <a:pPr algn="l">
              <a:defRPr sz="1200" b="0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8"/>
                </a:solidFill>
                <a:latin typeface="Arial"/>
                <a:ea typeface="Arial"/>
                <a:cs typeface="Arial"/>
              </a:rPr>
              <a:t>MinIO object storage</a:t>
            </a:r>
          </a:p>
        </p:txBody>
      </p:sp>
      <p:sp>
        <p:nvSpPr>
          <p:cNvPr id="18" name="arch-card-3">
            <a:extLst xmlns:a="http://schemas.openxmlformats.org/drawingml/2006/main">
              <a:ext uri="{FF2B5EF4-FFF2-40B4-BE49-F238E27FC236}">
                <a16:creationId xmlns:a16="http://schemas.microsoft.com/office/drawing/2014/main" id="{08F4EAC8-D866-4A52-A1C8-94B6C1E4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809750"/>
            <a:ext cx="2305050" cy="33337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9"/>
            </a:solidFill>
          </a:ln>
        </p:spPr>
      </p:sp>
      <p:sp>
        <p:nvSpPr>
          <p:cNvPr id="19" name="arch-color-3">
            <a:extLst xmlns:a="http://schemas.openxmlformats.org/drawingml/2006/main">
              <a:ext uri="{FF2B5EF4-FFF2-40B4-BE49-F238E27FC236}">
                <a16:creationId xmlns:a16="http://schemas.microsoft.com/office/drawing/2014/main" id="{4E18F669-11C8-4EBE-80E6-7F0A20E1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809750"/>
            <a:ext cx="2305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65D"/>
          </a:solidFill>
          <a:ln xmlns:a="http://schemas.openxmlformats.org/drawingml/2006/main" w="0">
            <a:noFill/>
          </a:ln>
        </p:spPr>
      </p:sp>
      <p:sp>
        <p:nvSpPr>
          <p:cNvPr id="20" name="arch-eyebrow-3">
            <a:extLst xmlns:a="http://schemas.openxmlformats.org/drawingml/2006/main">
              <a:ext uri="{FF2B5EF4-FFF2-40B4-BE49-F238E27FC236}">
                <a16:creationId xmlns:a16="http://schemas.microsoft.com/office/drawing/2014/main" id="{7319503F-61AB-4FE3-9CF7-106EEAE3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114550"/>
            <a:ext cx="1971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6278"/>
                </a:solidFill>
                <a:latin typeface="Arial"/>
                <a:ea typeface="Arial"/>
                <a:cs typeface="Arial"/>
              </a:rPr>
              <a:t>AI + SAFETY</a:t>
            </a:r>
          </a:p>
        </p:txBody>
      </p:sp>
      <p:sp>
        <p:nvSpPr>
          <p:cNvPr id="21" name="arch-big-3">
            <a:extLst xmlns:a="http://schemas.openxmlformats.org/drawingml/2006/main">
              <a:ext uri="{FF2B5EF4-FFF2-40B4-BE49-F238E27FC236}">
                <a16:creationId xmlns:a16="http://schemas.microsoft.com/office/drawing/2014/main" id="{DE84DFF1-DCDC-46A7-B9CA-B50E5283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571750"/>
            <a:ext cx="19716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238"/>
                </a:solidFill>
                <a:latin typeface="Arial"/>
                <a:ea typeface="Arial"/>
                <a:cs typeface="Arial"/>
              </a:rPr>
              <a:t>AssemblyAI + LLM</a:t>
            </a:r>
          </a:p>
        </p:txBody>
      </p:sp>
      <p:sp>
        <p:nvSpPr>
          <p:cNvPr id="22" name="arch-details-3">
            <a:extLst xmlns:a="http://schemas.openxmlformats.org/drawingml/2006/main">
              <a:ext uri="{FF2B5EF4-FFF2-40B4-BE49-F238E27FC236}">
                <a16:creationId xmlns:a16="http://schemas.microsoft.com/office/drawing/2014/main" id="{9AB1E8DD-4141-4A11-9EFD-FA5F2A84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476625"/>
            <a:ext cx="1981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8"/>
                </a:solidFill>
                <a:latin typeface="Arial"/>
                <a:ea typeface="Arial"/>
                <a:cs typeface="Arial"/>
              </a:rPr>
              <a:t>Speech recognition</a:t>
            </a:r>
          </a:p>
          <a:p xmlns:a="http://schemas.openxmlformats.org/drawingml/2006/main">
            <a:pPr algn="l">
              <a:defRPr sz="1200" b="0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8"/>
                </a:solidFill>
                <a:latin typeface="Arial"/>
                <a:ea typeface="Arial"/>
                <a:cs typeface="Arial"/>
              </a:rPr>
              <a:t>Optional answer generation</a:t>
            </a:r>
          </a:p>
          <a:p xmlns:a="http://schemas.openxmlformats.org/drawingml/2006/main">
            <a:pPr algn="l">
              <a:defRPr sz="1200" b="0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78"/>
                </a:solidFill>
                <a:latin typeface="Arial"/>
                <a:ea typeface="Arial"/>
                <a:cs typeface="Arial"/>
              </a:rPr>
              <a:t>ClamAV file scanning</a:t>
            </a:r>
          </a:p>
        </p:txBody>
      </p:sp>
      <p:sp>
        <p:nvSpPr>
          <p:cNvPr id="23" name="arch-note">
            <a:extLst xmlns:a="http://schemas.openxmlformats.org/drawingml/2006/main">
              <a:ext uri="{FF2B5EF4-FFF2-40B4-BE49-F238E27FC236}">
                <a16:creationId xmlns:a16="http://schemas.microsoft.com/office/drawing/2014/main" id="{668219A6-B787-4AA0-AA48-A676001D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8"/>
                </a:solidFill>
                <a:latin typeface="Arial"/>
                <a:ea typeface="Arial"/>
                <a:cs typeface="Arial"/>
              </a:rPr>
              <a:t>Docker Compose brings the API, web app, worker, data stores, and supporting services together.</a:t>
            </a:r>
          </a:p>
        </p:txBody>
      </p:sp>
      <p:sp>
        <p:nvSpPr>
          <p:cNvPr id="2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2031700F-165F-46D5-AA58-66FD4B1E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484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879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A8799"/>
                </a:solidFill>
                <a:latin typeface="Arial"/>
                <a:ea typeface="Arial"/>
                <a:cs typeface="Arial"/>
              </a:rPr>
              <a:t>VOICERAG  •  GITHUB.COM/PREMSHAIVAS/VOICERAG</a:t>
            </a:r>
          </a:p>
        </p:txBody>
      </p:sp>
      <p:sp>
        <p:nvSpPr>
          <p:cNvPr id="2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8325116-E0ED-4C26-8C91-DA836391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79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A879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53179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4E358B13-14B1-4CB6-8F5E-DA61776C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E6D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E6D7"/>
                </a:solidFill>
                <a:latin typeface="Arial"/>
                <a:ea typeface="Arial"/>
                <a:cs typeface="Arial"/>
              </a:rPr>
              <a:t>90-SECOND WALKTHROUGH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7B3E4A-B898-4960-9609-2873E8FE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5325"/>
            <a:ext cx="10744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simple demo viewers can follow</a:t>
            </a:r>
          </a:p>
        </p:txBody>
      </p:sp>
      <p:sp>
        <p:nvSpPr>
          <p:cNvPr id="3" name="demo-label-0">
            <a:extLst xmlns:a="http://schemas.openxmlformats.org/drawingml/2006/main">
              <a:ext uri="{FF2B5EF4-FFF2-40B4-BE49-F238E27FC236}">
                <a16:creationId xmlns:a16="http://schemas.microsoft.com/office/drawing/2014/main" id="{199E146C-1CD2-49A5-87E2-A031B8C4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E6D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E6D7"/>
                </a:solidFill>
                <a:latin typeface="Arial"/>
                <a:ea typeface="Arial"/>
                <a:cs typeface="Arial"/>
              </a:rPr>
              <a:t>SHOW</a:t>
            </a:r>
          </a:p>
        </p:txBody>
      </p:sp>
      <p:sp>
        <p:nvSpPr>
          <p:cNvPr id="4" name="demo-heading-0">
            <a:extLst xmlns:a="http://schemas.openxmlformats.org/drawingml/2006/main">
              <a:ext uri="{FF2B5EF4-FFF2-40B4-BE49-F238E27FC236}">
                <a16:creationId xmlns:a16="http://schemas.microsoft.com/office/drawing/2014/main" id="{DA1A8E86-00C2-41CE-8951-3C312D84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657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Video Intelligence</a:t>
            </a:r>
          </a:p>
        </p:txBody>
      </p:sp>
      <p:sp>
        <p:nvSpPr>
          <p:cNvPr id="5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C023C598-7C39-4BEB-BB64-C29DC1BA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66875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5D0D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5D0DF"/>
                </a:solidFill>
                <a:latin typeface="Arial"/>
                <a:ea typeface="Arial"/>
                <a:cs typeface="Arial"/>
              </a:rPr>
              <a:t>Open the app and point out the upload and URL entry.</a:t>
            </a:r>
          </a:p>
        </p:txBody>
      </p:sp>
      <p:sp>
        <p:nvSpPr>
          <p:cNvPr id="6" name="demo-label-1">
            <a:extLst xmlns:a="http://schemas.openxmlformats.org/drawingml/2006/main">
              <a:ext uri="{FF2B5EF4-FFF2-40B4-BE49-F238E27FC236}">
                <a16:creationId xmlns:a16="http://schemas.microsoft.com/office/drawing/2014/main" id="{9B1AD264-6C6F-454F-8D9C-E7B5B765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E6D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E6D7"/>
                </a:solidFill>
                <a:latin typeface="Arial"/>
                <a:ea typeface="Arial"/>
                <a:cs typeface="Arial"/>
              </a:rPr>
              <a:t>IMPORT</a:t>
            </a:r>
          </a:p>
        </p:txBody>
      </p:sp>
      <p:sp>
        <p:nvSpPr>
          <p:cNvPr id="7" name="demo-heading-1">
            <a:extLst xmlns:a="http://schemas.openxmlformats.org/drawingml/2006/main">
              <a:ext uri="{FF2B5EF4-FFF2-40B4-BE49-F238E27FC236}">
                <a16:creationId xmlns:a16="http://schemas.microsoft.com/office/drawing/2014/main" id="{C6107787-C641-4F08-AD56-F2425967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6289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 a source</a:t>
            </a:r>
          </a:p>
        </p:txBody>
      </p:sp>
      <p:sp>
        <p:nvSpPr>
          <p:cNvPr id="8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C51D6AF5-6C30-457A-8AF0-17B33CE7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38425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5D0D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5D0DF"/>
                </a:solidFill>
                <a:latin typeface="Arial"/>
                <a:ea typeface="Arial"/>
                <a:cs typeface="Arial"/>
              </a:rPr>
              <a:t>Submit a short local video or an accessible YouTube link.</a:t>
            </a:r>
          </a:p>
        </p:txBody>
      </p:sp>
      <p:sp>
        <p:nvSpPr>
          <p:cNvPr id="9" name="demo-label-2">
            <a:extLst xmlns:a="http://schemas.openxmlformats.org/drawingml/2006/main">
              <a:ext uri="{FF2B5EF4-FFF2-40B4-BE49-F238E27FC236}">
                <a16:creationId xmlns:a16="http://schemas.microsoft.com/office/drawing/2014/main" id="{230C1955-5E63-4F6A-9E4C-12FD9F1E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E6D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E6D7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0" name="demo-heading-2">
            <a:extLst xmlns:a="http://schemas.openxmlformats.org/drawingml/2006/main">
              <a:ext uri="{FF2B5EF4-FFF2-40B4-BE49-F238E27FC236}">
                <a16:creationId xmlns:a16="http://schemas.microsoft.com/office/drawing/2014/main" id="{92E9ECAB-069A-4235-98CD-96C6598C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600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 the transcript</a:t>
            </a:r>
          </a:p>
        </p:txBody>
      </p:sp>
      <p:sp>
        <p:nvSpPr>
          <p:cNvPr id="11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26329D55-F2E3-468A-90B0-CEA07FCE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09975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5D0D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5D0DF"/>
                </a:solidFill>
                <a:latin typeface="Arial"/>
                <a:ea typeface="Arial"/>
                <a:cs typeface="Arial"/>
              </a:rPr>
              <a:t>Show the recognized speech, timestamps, and key points.</a:t>
            </a:r>
          </a:p>
        </p:txBody>
      </p:sp>
      <p:sp>
        <p:nvSpPr>
          <p:cNvPr id="12" name="demo-label-3">
            <a:extLst xmlns:a="http://schemas.openxmlformats.org/drawingml/2006/main">
              <a:ext uri="{FF2B5EF4-FFF2-40B4-BE49-F238E27FC236}">
                <a16:creationId xmlns:a16="http://schemas.microsoft.com/office/drawing/2014/main" id="{75CEF7F9-26AA-4832-9EE5-22DDC9AA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E6D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E6D7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13" name="demo-heading-3">
            <a:extLst xmlns:a="http://schemas.openxmlformats.org/drawingml/2006/main">
              <a:ext uri="{FF2B5EF4-FFF2-40B4-BE49-F238E27FC236}">
                <a16:creationId xmlns:a16="http://schemas.microsoft.com/office/drawing/2014/main" id="{41FB4E6D-3CA9-44DC-95EE-4D3FEAC7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572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Inspect the evidence</a:t>
            </a:r>
          </a:p>
        </p:txBody>
      </p:sp>
      <p:sp>
        <p:nvSpPr>
          <p:cNvPr id="14" name="demo-detail-3">
            <a:extLst xmlns:a="http://schemas.openxmlformats.org/drawingml/2006/main">
              <a:ext uri="{FF2B5EF4-FFF2-40B4-BE49-F238E27FC236}">
                <a16:creationId xmlns:a16="http://schemas.microsoft.com/office/drawing/2014/main" id="{09EEBB69-8091-4A64-A663-85A7F352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581525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5D0D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5D0DF"/>
                </a:solidFill>
                <a:latin typeface="Arial"/>
                <a:ea typeface="Arial"/>
                <a:cs typeface="Arial"/>
              </a:rPr>
              <a:t>Ask one question, then open a citation to verify it.</a:t>
            </a:r>
          </a:p>
        </p:txBody>
      </p:sp>
      <p:sp>
        <p:nvSpPr>
          <p:cNvPr id="15" name="demo-caveat">
            <a:extLst xmlns:a="http://schemas.openxmlformats.org/drawingml/2006/main">
              <a:ext uri="{FF2B5EF4-FFF2-40B4-BE49-F238E27FC236}">
                <a16:creationId xmlns:a16="http://schemas.microsoft.com/office/drawing/2014/main" id="{25728A69-A40C-4996-8FEA-811DD39C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10382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C30"/>
          </a:solidFill>
          <a:ln xmlns:a="http://schemas.openxmlformats.org/drawingml/2006/main" w="0">
            <a:noFill/>
          </a:ln>
        </p:spPr>
      </p:sp>
      <p:sp>
        <p:nvSpPr>
          <p:cNvPr id="16" name="demo-caveat-text">
            <a:extLst xmlns:a="http://schemas.openxmlformats.org/drawingml/2006/main">
              <a:ext uri="{FF2B5EF4-FFF2-40B4-BE49-F238E27FC236}">
                <a16:creationId xmlns:a16="http://schemas.microsoft.com/office/drawing/2014/main" id="{400E6A95-9B5B-4402-B861-2011E7F4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8167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B6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B65D"/>
                </a:solidFill>
                <a:latin typeface="Arial"/>
                <a:ea typeface="Arial"/>
                <a:cs typeface="Arial"/>
              </a:rPr>
              <a:t>For generated answers, configure an LLM model enabled for your account; otherwise show the cited excerpt fallback.</a:t>
            </a:r>
          </a:p>
        </p:txBody>
      </p:sp>
      <p:sp>
        <p:nvSpPr>
          <p:cNvPr id="1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7175B085-5BBD-45F6-BB5F-B0734784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484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809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18096"/>
                </a:solidFill>
                <a:latin typeface="Arial"/>
                <a:ea typeface="Arial"/>
                <a:cs typeface="Arial"/>
              </a:rPr>
              <a:t>VOICERAG  •  GITHUB.COM/PREMSHAIVAS/VOICERAG</a:t>
            </a:r>
          </a:p>
        </p:txBody>
      </p:sp>
      <p:sp>
        <p:nvSpPr>
          <p:cNvPr id="1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CF94A77-EDA7-4839-A629-67A9C5FD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809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0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052974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E1D48248-1EDA-4D86-BD73-F69731DB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278"/>
                </a:solidFill>
                <a:latin typeface="Arial"/>
                <a:ea typeface="Arial"/>
                <a:cs typeface="Arial"/>
              </a:rPr>
              <a:t>TRUST AND TRANSPARENCY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DFEBF7-1C27-4280-8422-96D556E3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5325"/>
            <a:ext cx="10744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238"/>
                </a:solidFill>
                <a:latin typeface="Arial"/>
                <a:ea typeface="Arial"/>
                <a:cs typeface="Arial"/>
              </a:rPr>
              <a:t>Answers stay connected to the transcript</a:t>
            </a:r>
          </a:p>
        </p:txBody>
      </p:sp>
      <p:sp>
        <p:nvSpPr>
          <p:cNvPr id="3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0E2C666E-B3F0-4E09-9590-47EF8235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6743700" cy="38671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</a:ln>
        </p:spPr>
      </p:sp>
      <p:sp>
        <p:nvSpPr>
          <p:cNvPr id="4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14E04746-2EEE-489F-AEDA-C8ACEF28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43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E6D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AE6D7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5" name="answer-question">
            <a:extLst xmlns:a="http://schemas.openxmlformats.org/drawingml/2006/main">
              <a:ext uri="{FF2B5EF4-FFF2-40B4-BE49-F238E27FC236}">
                <a16:creationId xmlns:a16="http://schemas.microsoft.com/office/drawing/2014/main" id="{425761C5-9A31-42A1-967C-65E4823C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7647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does the speaker recommend?</a:t>
            </a:r>
          </a:p>
        </p:txBody>
      </p:sp>
      <p:sp>
        <p:nvSpPr>
          <p:cNvPr id="6" name="answer-divider">
            <a:extLst xmlns:a="http://schemas.openxmlformats.org/drawingml/2006/main">
              <a:ext uri="{FF2B5EF4-FFF2-40B4-BE49-F238E27FC236}">
                <a16:creationId xmlns:a16="http://schemas.microsoft.com/office/drawing/2014/main" id="{1ECF0816-957E-4187-AD83-BA5ADC10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05125"/>
            <a:ext cx="6115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257"/>
          </a:solidFill>
          <a:ln xmlns:a="http://schemas.openxmlformats.org/drawingml/2006/main" w="0">
            <a:noFill/>
          </a:ln>
        </p:spPr>
      </p:sp>
      <p:sp>
        <p:nvSpPr>
          <p:cNvPr id="7" name="evidence-label">
            <a:extLst xmlns:a="http://schemas.openxmlformats.org/drawingml/2006/main">
              <a:ext uri="{FF2B5EF4-FFF2-40B4-BE49-F238E27FC236}">
                <a16:creationId xmlns:a16="http://schemas.microsoft.com/office/drawing/2014/main" id="{AF0ADBCB-07BC-4E7B-BD9F-D1F0CDE0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9087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9B8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9B8A6"/>
                </a:solidFill>
                <a:latin typeface="Arial"/>
                <a:ea typeface="Arial"/>
                <a:cs typeface="Arial"/>
              </a:rPr>
              <a:t>RETRIEVED TRANSCRIPT EVIDENCE</a:t>
            </a:r>
          </a:p>
        </p:txBody>
      </p:sp>
      <p:sp>
        <p:nvSpPr>
          <p:cNvPr id="8" name="evidence-copy">
            <a:extLst xmlns:a="http://schemas.openxmlformats.org/drawingml/2006/main">
              <a:ext uri="{FF2B5EF4-FFF2-40B4-BE49-F238E27FC236}">
                <a16:creationId xmlns:a16="http://schemas.microsoft.com/office/drawing/2014/main" id="{A261A517-EEC4-427F-9590-A03E38CB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59245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5D0D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5D0DF"/>
                </a:solidFill>
                <a:latin typeface="Arial"/>
                <a:ea typeface="Arial"/>
                <a:cs typeface="Arial"/>
              </a:rPr>
              <a:t>Relevant transcript passages are shown with their source context and timestamps, so a viewer can check the answer against the recording.</a:t>
            </a:r>
          </a:p>
        </p:txBody>
      </p:sp>
      <p:sp>
        <p:nvSpPr>
          <p:cNvPr id="9" name="citation-chip">
            <a:extLst xmlns:a="http://schemas.openxmlformats.org/drawingml/2006/main">
              <a:ext uri="{FF2B5EF4-FFF2-40B4-BE49-F238E27FC236}">
                <a16:creationId xmlns:a16="http://schemas.microsoft.com/office/drawing/2014/main" id="{EBCBB00C-7CFC-4563-878B-814BBB88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00600"/>
            <a:ext cx="23336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11C30"/>
          </a:solidFill>
          <a:ln xmlns:a="http://schemas.openxmlformats.org/drawingml/2006/main" w="0">
            <a:noFill/>
          </a:ln>
        </p:spPr>
      </p:sp>
      <p:sp>
        <p:nvSpPr>
          <p:cNvPr id="10" name="citation-text">
            <a:extLst xmlns:a="http://schemas.openxmlformats.org/drawingml/2006/main">
              <a:ext uri="{FF2B5EF4-FFF2-40B4-BE49-F238E27FC236}">
                <a16:creationId xmlns:a16="http://schemas.microsoft.com/office/drawing/2014/main" id="{CCF4F69B-580E-4C2A-9DD7-E2B39A57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9585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E6D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E6D7"/>
                </a:solidFill>
                <a:latin typeface="Arial"/>
                <a:ea typeface="Arial"/>
                <a:cs typeface="Arial"/>
              </a:rPr>
              <a:t>OPEN CITED PASSAGE  ↗</a:t>
            </a:r>
          </a:p>
        </p:txBody>
      </p:sp>
      <p:sp>
        <p:nvSpPr>
          <p:cNvPr id="11" name="grounding-head">
            <a:extLst xmlns:a="http://schemas.openxmlformats.org/drawingml/2006/main">
              <a:ext uri="{FF2B5EF4-FFF2-40B4-BE49-F238E27FC236}">
                <a16:creationId xmlns:a16="http://schemas.microsoft.com/office/drawing/2014/main" id="{54C3A5D4-6429-4A5E-A01C-365D3FF6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7167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238"/>
                </a:solidFill>
                <a:latin typeface="Arial"/>
                <a:ea typeface="Arial"/>
                <a:cs typeface="Arial"/>
              </a:rPr>
              <a:t>If generation is unavailable</a:t>
            </a:r>
          </a:p>
        </p:txBody>
      </p:sp>
      <p:sp>
        <p:nvSpPr>
          <p:cNvPr id="12" name="grounding-body">
            <a:extLst xmlns:a="http://schemas.openxmlformats.org/drawingml/2006/main">
              <a:ext uri="{FF2B5EF4-FFF2-40B4-BE49-F238E27FC236}">
                <a16:creationId xmlns:a16="http://schemas.microsoft.com/office/drawing/2014/main" id="{7380EFFB-1B0D-46BF-BDC3-C6F10785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24150"/>
            <a:ext cx="333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8"/>
                </a:solidFill>
                <a:latin typeface="Arial"/>
                <a:ea typeface="Arial"/>
                <a:cs typeface="Arial"/>
              </a:rPr>
              <a:t>VoiceRAG can return clearly labeled transcript excerpts instead of implying an LLM generated an answer.</a:t>
            </a:r>
          </a:p>
        </p:txBody>
      </p:sp>
      <p:sp>
        <p:nvSpPr>
          <p:cNvPr id="13" name="status-pill">
            <a:extLst xmlns:a="http://schemas.openxmlformats.org/drawingml/2006/main">
              <a:ext uri="{FF2B5EF4-FFF2-40B4-BE49-F238E27FC236}">
                <a16:creationId xmlns:a16="http://schemas.microsoft.com/office/drawing/2014/main" id="{76A6177C-A1C8-4EA7-9D52-9C99A3DA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29100"/>
            <a:ext cx="2990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6F6F2"/>
          </a:solidFill>
          <a:ln xmlns:a="http://schemas.openxmlformats.org/drawingml/2006/main" w="0">
            <a:noFill/>
          </a:ln>
        </p:spPr>
      </p:sp>
      <p:sp>
        <p:nvSpPr>
          <p:cNvPr id="14" name="status-pill-copy">
            <a:extLst xmlns:a="http://schemas.openxmlformats.org/drawingml/2006/main">
              <a:ext uri="{FF2B5EF4-FFF2-40B4-BE49-F238E27FC236}">
                <a16:creationId xmlns:a16="http://schemas.microsoft.com/office/drawing/2014/main" id="{D5A9CC1B-2AF2-463F-B15E-93BBEB4E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6245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7C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7C70"/>
                </a:solidFill>
                <a:latin typeface="Arial"/>
                <a:ea typeface="Arial"/>
                <a:cs typeface="Arial"/>
              </a:rPr>
              <a:t>EVIDENCE FIRST  ·  CLEAR FALLBACK</a:t>
            </a:r>
          </a:p>
        </p:txBody>
      </p:sp>
      <p:sp>
        <p:nvSpPr>
          <p:cNvPr id="1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235CE119-3D41-45F1-929A-A1F9211A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484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879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A8799"/>
                </a:solidFill>
                <a:latin typeface="Arial"/>
                <a:ea typeface="Arial"/>
                <a:cs typeface="Arial"/>
              </a:rPr>
              <a:t>VOICERAG  •  GITHUB.COM/PREMSHAIVAS/VOICERAG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25AE7CE-007D-44B7-914B-21E9ACEC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79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A879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063227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FEE39B1E-7E4D-4812-A610-A7BB95E7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E6D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E6D7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97D6F5-C57F-44C8-A361-4B89C02A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5325"/>
            <a:ext cx="10744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Built to run as an application, not a notebook</a:t>
            </a:r>
          </a:p>
        </p:txBody>
      </p:sp>
      <p:sp>
        <p:nvSpPr>
          <p:cNvPr id="3" name="ops-number-0">
            <a:extLst xmlns:a="http://schemas.openxmlformats.org/drawingml/2006/main">
              <a:ext uri="{FF2B5EF4-FFF2-40B4-BE49-F238E27FC236}">
                <a16:creationId xmlns:a16="http://schemas.microsoft.com/office/drawing/2014/main" id="{8E3C1CB7-4CE0-4385-8150-AFEE5AAE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859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B8A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B8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ops-heading-0">
            <a:extLst xmlns:a="http://schemas.openxmlformats.org/drawingml/2006/main">
              <a:ext uri="{FF2B5EF4-FFF2-40B4-BE49-F238E27FC236}">
                <a16:creationId xmlns:a16="http://schemas.microsoft.com/office/drawing/2014/main" id="{86C41935-7EEC-4204-A71F-4C7C26B7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638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User-scoped access</a:t>
            </a:r>
          </a:p>
        </p:txBody>
      </p:sp>
      <p:sp>
        <p:nvSpPr>
          <p:cNvPr id="5" name="ops-copy-0">
            <a:extLst xmlns:a="http://schemas.openxmlformats.org/drawingml/2006/main">
              <a:ext uri="{FF2B5EF4-FFF2-40B4-BE49-F238E27FC236}">
                <a16:creationId xmlns:a16="http://schemas.microsoft.com/office/drawing/2014/main" id="{9CBD7FEC-B1F9-4DCD-B8C2-59F72A46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4782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5D0D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5D0DF"/>
                </a:solidFill>
                <a:latin typeface="Arial"/>
                <a:ea typeface="Arial"/>
                <a:cs typeface="Arial"/>
              </a:rPr>
              <a:t>Document and retrieval requests are scoped to the signed-in user.</a:t>
            </a:r>
          </a:p>
        </p:txBody>
      </p:sp>
      <p:sp>
        <p:nvSpPr>
          <p:cNvPr id="6" name="ops-number-1">
            <a:extLst xmlns:a="http://schemas.openxmlformats.org/drawingml/2006/main">
              <a:ext uri="{FF2B5EF4-FFF2-40B4-BE49-F238E27FC236}">
                <a16:creationId xmlns:a16="http://schemas.microsoft.com/office/drawing/2014/main" id="{390BFC84-29B1-441F-B9BF-4B80D91F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527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B8A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B8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ops-heading-1">
            <a:extLst xmlns:a="http://schemas.openxmlformats.org/drawingml/2006/main">
              <a:ext uri="{FF2B5EF4-FFF2-40B4-BE49-F238E27FC236}">
                <a16:creationId xmlns:a16="http://schemas.microsoft.com/office/drawing/2014/main" id="{57435E78-F0C3-42B3-8C32-37E01F72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7051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Protected sessions</a:t>
            </a:r>
          </a:p>
        </p:txBody>
      </p:sp>
      <p:sp>
        <p:nvSpPr>
          <p:cNvPr id="8" name="ops-copy-1">
            <a:extLst xmlns:a="http://schemas.openxmlformats.org/drawingml/2006/main">
              <a:ext uri="{FF2B5EF4-FFF2-40B4-BE49-F238E27FC236}">
                <a16:creationId xmlns:a16="http://schemas.microsoft.com/office/drawing/2014/main" id="{099A9C22-3F22-4586-AAA8-8F61B164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1462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5D0D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5D0DF"/>
                </a:solidFill>
                <a:latin typeface="Arial"/>
                <a:ea typeface="Arial"/>
                <a:cs typeface="Arial"/>
              </a:rPr>
              <a:t>Short-lived access tokens with refresh rotation and CSRF validation.</a:t>
            </a:r>
          </a:p>
        </p:txBody>
      </p:sp>
      <p:sp>
        <p:nvSpPr>
          <p:cNvPr id="9" name="ops-number-2">
            <a:extLst xmlns:a="http://schemas.openxmlformats.org/drawingml/2006/main">
              <a:ext uri="{FF2B5EF4-FFF2-40B4-BE49-F238E27FC236}">
                <a16:creationId xmlns:a16="http://schemas.microsoft.com/office/drawing/2014/main" id="{5934E0A8-0049-4694-B4E2-DD90E979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95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B8A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B8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ops-heading-2">
            <a:extLst xmlns:a="http://schemas.openxmlformats.org/drawingml/2006/main">
              <a:ext uri="{FF2B5EF4-FFF2-40B4-BE49-F238E27FC236}">
                <a16:creationId xmlns:a16="http://schemas.microsoft.com/office/drawing/2014/main" id="{EF961BEF-A0DC-49C9-A4D3-42CD728D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771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Health visibility</a:t>
            </a:r>
          </a:p>
        </p:txBody>
      </p:sp>
      <p:sp>
        <p:nvSpPr>
          <p:cNvPr id="11" name="ops-copy-2">
            <a:extLst xmlns:a="http://schemas.openxmlformats.org/drawingml/2006/main">
              <a:ext uri="{FF2B5EF4-FFF2-40B4-BE49-F238E27FC236}">
                <a16:creationId xmlns:a16="http://schemas.microsoft.com/office/drawing/2014/main" id="{B6D4A7B4-E5C9-4A41-96BF-06D16B8F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8142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5D0D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5D0DF"/>
                </a:solidFill>
                <a:latin typeface="Arial"/>
                <a:ea typeface="Arial"/>
                <a:cs typeface="Arial"/>
              </a:rPr>
              <a:t>Readiness endpoint and Prometheus metrics support operations.</a:t>
            </a:r>
          </a:p>
        </p:txBody>
      </p:sp>
      <p:sp>
        <p:nvSpPr>
          <p:cNvPr id="12" name="ops-number-3">
            <a:extLst xmlns:a="http://schemas.openxmlformats.org/drawingml/2006/main">
              <a:ext uri="{FF2B5EF4-FFF2-40B4-BE49-F238E27FC236}">
                <a16:creationId xmlns:a16="http://schemas.microsoft.com/office/drawing/2014/main" id="{A6A6513E-D8E2-4DC7-AE83-40C1B134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86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B8A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B8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ops-heading-3">
            <a:extLst xmlns:a="http://schemas.openxmlformats.org/drawingml/2006/main">
              <a:ext uri="{FF2B5EF4-FFF2-40B4-BE49-F238E27FC236}">
                <a16:creationId xmlns:a16="http://schemas.microsoft.com/office/drawing/2014/main" id="{31F42595-6BA3-4095-BE83-4C9E35A4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838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Safer ingestion</a:t>
            </a:r>
          </a:p>
        </p:txBody>
      </p:sp>
      <p:sp>
        <p:nvSpPr>
          <p:cNvPr id="14" name="ops-copy-3">
            <a:extLst xmlns:a="http://schemas.openxmlformats.org/drawingml/2006/main">
              <a:ext uri="{FF2B5EF4-FFF2-40B4-BE49-F238E27FC236}">
                <a16:creationId xmlns:a16="http://schemas.microsoft.com/office/drawing/2014/main" id="{A402E0DE-C7E5-464C-BAB9-D9BF290E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4822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5D0D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5D0DF"/>
                </a:solidFill>
                <a:latin typeface="Arial"/>
                <a:ea typeface="Arial"/>
                <a:cs typeface="Arial"/>
              </a:rPr>
              <a:t>Uploaded objects pass through ClamAV scanning.</a:t>
            </a:r>
          </a:p>
        </p:txBody>
      </p:sp>
      <p:sp>
        <p:nvSpPr>
          <p:cNvPr id="15" name="ops-note">
            <a:extLst xmlns:a="http://schemas.openxmlformats.org/drawingml/2006/main">
              <a:ext uri="{FF2B5EF4-FFF2-40B4-BE49-F238E27FC236}">
                <a16:creationId xmlns:a16="http://schemas.microsoft.com/office/drawing/2014/main" id="{3AD6579D-7852-44B6-9740-A91A61B4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53125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B6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B65D"/>
                </a:solidFill>
                <a:latin typeface="Arial"/>
                <a:ea typeface="Arial"/>
                <a:cs typeface="Arial"/>
              </a:rPr>
              <a:t>Keep real API keys and deployment secrets in the local environment; the example file uses placeholders.</a:t>
            </a:r>
          </a:p>
        </p:txBody>
      </p:sp>
      <p:sp>
        <p:nvSpPr>
          <p:cNvPr id="16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41914AEE-D065-42BD-8851-25EF69CC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484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809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18096"/>
                </a:solidFill>
                <a:latin typeface="Arial"/>
                <a:ea typeface="Arial"/>
                <a:cs typeface="Arial"/>
              </a:rPr>
              <a:t>VOICERAG  •  GITHUB.COM/PREMSHAIVAS/VOICERAG</a:t>
            </a:r>
          </a:p>
        </p:txBody>
      </p:sp>
      <p:sp>
        <p:nvSpPr>
          <p:cNvPr id="1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47013FE-8FFB-4E42-AB1B-03782FB7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809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09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317379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D02F8C46-21B9-4775-BDC8-7D17D292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278"/>
                </a:solidFill>
                <a:latin typeface="Arial"/>
                <a:ea typeface="Arial"/>
                <a:cs typeface="Arial"/>
              </a:rPr>
              <a:t>PROJECT CHECKPOINT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40B4C1-030E-43CA-8827-DBF47FC5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5325"/>
            <a:ext cx="10744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238"/>
                </a:solidFill>
                <a:latin typeface="Arial"/>
                <a:ea typeface="Arial"/>
                <a:cs typeface="Arial"/>
              </a:rPr>
              <a:t>Current status and the next step</a:t>
            </a:r>
          </a:p>
        </p:txBody>
      </p:sp>
      <p:sp>
        <p:nvSpPr>
          <p:cNvPr id="3" name="status-card-left">
            <a:extLst xmlns:a="http://schemas.openxmlformats.org/drawingml/2006/main">
              <a:ext uri="{FF2B5EF4-FFF2-40B4-BE49-F238E27FC236}">
                <a16:creationId xmlns:a16="http://schemas.microsoft.com/office/drawing/2014/main" id="{583E1438-3365-45EE-9B0C-7F2A22CF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5029200" cy="35814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9"/>
            </a:solidFill>
          </a:ln>
        </p:spPr>
      </p:sp>
      <p:sp>
        <p:nvSpPr>
          <p:cNvPr id="4" name="status-card-right">
            <a:extLst xmlns:a="http://schemas.openxmlformats.org/drawingml/2006/main">
              <a:ext uri="{FF2B5EF4-FFF2-40B4-BE49-F238E27FC236}">
                <a16:creationId xmlns:a16="http://schemas.microsoft.com/office/drawing/2014/main" id="{3CB72581-F686-4808-906E-884892DB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85925"/>
            <a:ext cx="5353050" cy="35814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9"/>
            </a:solidFill>
          </a:ln>
        </p:spPr>
      </p:sp>
      <p:sp>
        <p:nvSpPr>
          <p:cNvPr id="5" name="checked-label">
            <a:extLst xmlns:a="http://schemas.openxmlformats.org/drawingml/2006/main">
              <a:ext uri="{FF2B5EF4-FFF2-40B4-BE49-F238E27FC236}">
                <a16:creationId xmlns:a16="http://schemas.microsoft.com/office/drawing/2014/main" id="{E6B7D1E3-B754-4FE0-8597-685C63CB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716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7C7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7C70"/>
                </a:solidFill>
                <a:latin typeface="Arial"/>
                <a:ea typeface="Arial"/>
                <a:cs typeface="Arial"/>
              </a:rPr>
              <a:t>CHECKED</a:t>
            </a:r>
          </a:p>
        </p:txBody>
      </p:sp>
      <p:sp>
        <p:nvSpPr>
          <p:cNvPr id="6" name="checked-heading">
            <a:extLst xmlns:a="http://schemas.openxmlformats.org/drawingml/2006/main">
              <a:ext uri="{FF2B5EF4-FFF2-40B4-BE49-F238E27FC236}">
                <a16:creationId xmlns:a16="http://schemas.microsoft.com/office/drawing/2014/main" id="{26F33F50-B2F7-4151-8EC8-D14CA25C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4210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238"/>
                </a:solidFill>
                <a:latin typeface="Arial"/>
                <a:ea typeface="Arial"/>
                <a:cs typeface="Arial"/>
              </a:rPr>
              <a:t>Core app validation</a:t>
            </a:r>
          </a:p>
        </p:txBody>
      </p:sp>
      <p:sp>
        <p:nvSpPr>
          <p:cNvPr id="7" name="checked-details">
            <a:extLst xmlns:a="http://schemas.openxmlformats.org/drawingml/2006/main">
              <a:ext uri="{FF2B5EF4-FFF2-40B4-BE49-F238E27FC236}">
                <a16:creationId xmlns:a16="http://schemas.microsoft.com/office/drawing/2014/main" id="{5D9BC861-BFFE-44BB-8F4F-2BD598B2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42386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8"/>
                </a:solidFill>
                <a:latin typeface="Arial"/>
                <a:ea typeface="Arial"/>
                <a:cs typeface="Arial"/>
              </a:rPr>
              <a:t>• Backend suite: 22 passed (1 warning)</a:t>
            </a:r>
          </a:p>
          <a:p xmlns:a="http://schemas.openxmlformats.org/drawingml/2006/main">
            <a:pPr algn="l">
              <a:defRPr sz="1350" b="0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8"/>
                </a:solidFill>
                <a:latin typeface="Arial"/>
                <a:ea typeface="Arial"/>
                <a:cs typeface="Arial"/>
              </a:rPr>
              <a:t>• Frontend production build: passed</a:t>
            </a:r>
          </a:p>
          <a:p xmlns:a="http://schemas.openxmlformats.org/drawingml/2006/main">
            <a:pPr algn="l">
              <a:defRPr sz="1350" b="0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8"/>
                </a:solidFill>
                <a:latin typeface="Arial"/>
                <a:ea typeface="Arial"/>
                <a:cs typeface="Arial"/>
              </a:rPr>
              <a:t>• Docker Compose config: valid</a:t>
            </a:r>
          </a:p>
          <a:p xmlns:a="http://schemas.openxmlformats.org/drawingml/2006/main">
            <a:pPr algn="l">
              <a:defRPr sz="1350" b="0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8"/>
                </a:solidFill>
                <a:latin typeface="Arial"/>
                <a:ea typeface="Arial"/>
                <a:cs typeface="Arial"/>
              </a:rPr>
              <a:t>• API readiness and service checks: passed</a:t>
            </a:r>
          </a:p>
          <a:p xmlns:a="http://schemas.openxmlformats.org/drawingml/2006/main">
            <a:pPr algn="l">
              <a:defRPr sz="1350" b="0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8"/>
                </a:solidFill>
                <a:latin typeface="Arial"/>
                <a:ea typeface="Arial"/>
                <a:cs typeface="Arial"/>
              </a:rPr>
              <a:t>• AssemblyAI transcription auth: passed</a:t>
            </a:r>
          </a:p>
        </p:txBody>
      </p:sp>
      <p:sp>
        <p:nvSpPr>
          <p:cNvPr id="8" name="next-label">
            <a:extLst xmlns:a="http://schemas.openxmlformats.org/drawingml/2006/main">
              <a:ext uri="{FF2B5EF4-FFF2-40B4-BE49-F238E27FC236}">
                <a16:creationId xmlns:a16="http://schemas.microsoft.com/office/drawing/2014/main" id="{9B251629-62F8-4F53-817C-F8B9B62A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7167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27A1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27A1B"/>
                </a:solidFill>
                <a:latin typeface="Arial"/>
                <a:ea typeface="Arial"/>
                <a:cs typeface="Arial"/>
              </a:rPr>
              <a:t>REMAINING CONFIGURATION</a:t>
            </a:r>
          </a:p>
        </p:txBody>
      </p:sp>
      <p:sp>
        <p:nvSpPr>
          <p:cNvPr id="9" name="next-heading">
            <a:extLst xmlns:a="http://schemas.openxmlformats.org/drawingml/2006/main">
              <a:ext uri="{FF2B5EF4-FFF2-40B4-BE49-F238E27FC236}">
                <a16:creationId xmlns:a16="http://schemas.microsoft.com/office/drawing/2014/main" id="{3F8CABAD-B14F-4511-9737-5932FEEC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43150"/>
            <a:ext cx="4667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2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238"/>
                </a:solidFill>
                <a:latin typeface="Arial"/>
                <a:ea typeface="Arial"/>
                <a:cs typeface="Arial"/>
              </a:rPr>
              <a:t>Enable answer generation</a:t>
            </a:r>
          </a:p>
        </p:txBody>
      </p:sp>
      <p:sp>
        <p:nvSpPr>
          <p:cNvPr id="10" name="next-details">
            <a:extLst xmlns:a="http://schemas.openxmlformats.org/drawingml/2006/main">
              <a:ext uri="{FF2B5EF4-FFF2-40B4-BE49-F238E27FC236}">
                <a16:creationId xmlns:a16="http://schemas.microsoft.com/office/drawing/2014/main" id="{67DF121A-AE52-453E-A38D-C1701623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028950"/>
            <a:ext cx="4667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8"/>
                </a:solidFill>
                <a:latin typeface="Arial"/>
                <a:ea typeface="Arial"/>
                <a:cs typeface="Arial"/>
              </a:rPr>
              <a:t>The tested AssemblyAI LLM Gateway model was not enabled for the configured account. Enable an available Gateway model or configure an OpenAI-compatible provider, then verify generated Q&amp;A.</a:t>
            </a:r>
          </a:p>
        </p:txBody>
      </p:sp>
      <p:sp>
        <p:nvSpPr>
          <p:cNvPr id="11" name="repo-url">
            <a:extLst xmlns:a="http://schemas.openxmlformats.org/drawingml/2006/main">
              <a:ext uri="{FF2B5EF4-FFF2-40B4-BE49-F238E27FC236}">
                <a16:creationId xmlns:a16="http://schemas.microsoft.com/office/drawing/2014/main" id="{07F47780-08EE-40A5-AF9E-5D567689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5910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B8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B8A6"/>
                </a:solidFill>
                <a:latin typeface="Arial"/>
                <a:ea typeface="Arial"/>
                <a:cs typeface="Arial"/>
              </a:rPr>
              <a:t>github.com/Premshaivas/voiceRAG</a:t>
            </a:r>
          </a:p>
        </p:txBody>
      </p:sp>
      <p:sp>
        <p:nvSpPr>
          <p:cNvPr id="12" name="status-footnote">
            <a:extLst xmlns:a="http://schemas.openxmlformats.org/drawingml/2006/main">
              <a:ext uri="{FF2B5EF4-FFF2-40B4-BE49-F238E27FC236}">
                <a16:creationId xmlns:a16="http://schemas.microsoft.com/office/drawing/2014/main" id="{5129068B-F13A-4F35-A3BE-9A698EDC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29275"/>
            <a:ext cx="10429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2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8"/>
                </a:solidFill>
                <a:latin typeface="Arial"/>
                <a:ea typeface="Arial"/>
                <a:cs typeface="Arial"/>
              </a:rPr>
              <a:t>Local verification snapshot from the project work; live answer generation remains provider-account dependent.</a:t>
            </a:r>
          </a:p>
        </p:txBody>
      </p:sp>
      <p:sp>
        <p:nvSpPr>
          <p:cNvPr id="13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620D203C-CFB4-4E87-BC16-23F25241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484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879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A8799"/>
                </a:solidFill>
                <a:latin typeface="Arial"/>
                <a:ea typeface="Arial"/>
                <a:cs typeface="Arial"/>
              </a:rPr>
              <a:t>VOICERAG  •  GITHUB.COM/PREMSHAIVAS/VOICERAG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7BF2F85-DFB9-457A-B36E-5F1F7129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79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A879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271682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2026-09-30T14:52:47.3330000Z</dcterms:created>
  <dcterms:modified xsi:type="dcterms:W3CDTF">2026-09-30T14:52:47.3330000Z</dcterms:modified>
</coreProperties>
</file>